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and members of the review committee. Today, I am presenting 'Cyber Companion v3', an intelligent zero-trust mobile sentinel designed to protect non-technical citizens from modern cyberattacks like rogue Wi-Fi, phishing hyperlinks, malicious QR codes, and invasive app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enterprise cybersecurity tools are powerful, they are completely inaccessible to everyday smartphone users. Furthermore, many commercial scanners violate the very privacy they claim to protect by uploading sensitive personal data to remote servers. Cyber Companion was built to solve both the usability and privacy problems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was not to build a toy demonstration, but an industrial-grade system adhering to strict engineering constraints: 100% on-device privacy, zero fabricated mock data, pure mathematical risk calculation, and an interface that any citizen can understand.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modular monorepo architecture. Notice that the core scoring engine is completely isolated from external dependencies. It takes low-level vectors from the client and computes scores deterministically. The backend API handles threat intelligence lookups behind an SSRF Guard and powers the AI Threat Explainer through a grounded RAG knowledge engine.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Wi-Fi module queries live broadcast beacons in the physical airspace. Rather than simply showing if a network has a password, it inspects 802.11w Protected Management Frames. This tells the user whether an attacker nearby can force their device offline using deauth packets.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user inputs or clicks an unfamiliar link, our Web Guard evaluates it inside an isolated sandbox. It features an SSRF Guard that detects attempts to target internal routers like 192.168.1.1 or loopbacks, immediately blocking malicious pivots.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mobile camera apps automatically execute whatever payload is inside a QR code. Cyber Companion acts as a protective optical firewall. It intercepts raw QR data, parses it within an isolated memory sandbox, and warns the user before any system action can take 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Privacy Auditor evaluates dangerous permission combinations like flashlight or calculator apps requesting background microphone or precise GPS access. Crucially, this audit is performed 100% locally with zero external network transmission.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design choice in Cyber Companion is our deterministic scoring engine. We refused to use generative AI for calculating risk scores because security scores must be reproducible, mathematically sound, and immune to hallucinations. The engine uses a monotonic weighted function where threats strictly decrease the defense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math calculates the score, ordinary citizens need clear human explanations. Our AI Threat Explainer uses a RAG pipeline anchored strictly to our local knowledge base. Every explanation cites verified entries like KB-007, ensuring the advice is helpful, accurate, and completely free of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tools are often ugly and intimidating. We engineered an Apple-inspired Liquid Glass design system. By using frosted surfaces, clean typography, and a floating navigation bar, we make digital security feel modern, welcoming, and accessible to non-technical users.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reliability, we built an automated test suite with 25 test suites and 118 unit and penetration tests. Every security claim—from SSRF blocking to monotonic score calibration—is backed by passing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recognize the real-world limitations of operating on mobile operating systems without root privileges. Looking ahead, our roadmap includes on-device quantized language models and local DNS-over-HTTPS sinkholing to provide an even stronger autonomous defense.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Cyber Companion v3 demonstrates that citizen safety and technical rigor can go hand-in-hand. All modules are live, tested, and running on the connected Android smartphone. I am now ready for questions and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20116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698480" cy="2011680"/>
          </a:xfrm>
          <a:prstGeom prst="rect">
            <a:avLst/>
          </a:prstGeom>
          <a:noFill/>
        </p:spPr>
        <p:txBody>
          <a:bodyPr wrap="square">
            <a:spAutoFit/>
          </a:bodyPr>
          <a:lstStyle/>
          <a:p>
            <a:pPr>
              <a:defRPr sz="4000" b="1">
                <a:solidFill>
                  <a:srgbClr val="F8FAFC"/>
                </a:solidFill>
                <a:latin typeface="Segoe UI"/>
              </a:defRPr>
            </a:pPr>
            <a:r>
              <a:t>CYBER COMPANION v3</a:t>
            </a:r>
          </a:p>
          <a:p>
            <a:pPr>
              <a:spcBef>
                <a:spcPts val="800"/>
              </a:spcBef>
              <a:defRPr sz="2000">
                <a:solidFill>
                  <a:srgbClr val="34D399"/>
                </a:solidFill>
                <a:latin typeface="Segoe UI"/>
              </a:defRPr>
            </a:pPr>
            <a:r>
              <a:t>Intelligent Zero-Trust Threat Defense Sentinel for Ordinary Citizens</a:t>
            </a:r>
          </a:p>
          <a:p>
            <a:pPr>
              <a:spcBef>
                <a:spcPts val="600"/>
              </a:spcBef>
              <a:defRPr sz="1400">
                <a:solidFill>
                  <a:srgbClr val="94A3B8"/>
                </a:solidFill>
                <a:latin typeface="Segoe UI"/>
              </a:defRPr>
            </a:pPr>
            <a:r>
              <a:t>Bridging the Gap Between Low-Level Telemetry and Citizen-Centric Cyber Safety</a:t>
            </a:r>
          </a:p>
        </p:txBody>
      </p:sp>
      <p:sp>
        <p:nvSpPr>
          <p:cNvPr id="5" name="Rounded Rectangle 4"/>
          <p:cNvSpPr/>
          <p:nvPr/>
        </p:nvSpPr>
        <p:spPr>
          <a:xfrm>
            <a:off x="731520" y="3657600"/>
            <a:ext cx="3291840" cy="237744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40480"/>
            <a:ext cx="2926080" cy="365760"/>
          </a:xfrm>
          <a:prstGeom prst="rect">
            <a:avLst/>
          </a:prstGeom>
          <a:noFill/>
        </p:spPr>
        <p:txBody>
          <a:bodyPr wrap="square" lIns="0" tIns="0" rIns="0" bIns="0">
            <a:spAutoFit/>
          </a:bodyPr>
          <a:lstStyle/>
          <a:p>
            <a:pPr>
              <a:defRPr sz="1400" b="1">
                <a:solidFill>
                  <a:srgbClr val="38BDF8"/>
                </a:solidFill>
                <a:latin typeface="Segoe UI"/>
              </a:defRPr>
            </a:pPr>
            <a:r>
              <a:t>PROJECT DOMAIN</a:t>
            </a:r>
          </a:p>
        </p:txBody>
      </p:sp>
      <p:sp>
        <p:nvSpPr>
          <p:cNvPr id="7" name="TextBox 6"/>
          <p:cNvSpPr txBox="1"/>
          <p:nvPr/>
        </p:nvSpPr>
        <p:spPr>
          <a:xfrm>
            <a:off x="914400" y="4206240"/>
            <a:ext cx="2926080" cy="1645920"/>
          </a:xfrm>
          <a:prstGeom prst="rect">
            <a:avLst/>
          </a:prstGeom>
          <a:noFill/>
        </p:spPr>
        <p:txBody>
          <a:bodyPr wrap="square">
            <a:spAutoFit/>
          </a:bodyPr>
          <a:lstStyle/>
          <a:p>
            <a:pPr>
              <a:defRPr sz="1200">
                <a:solidFill>
                  <a:srgbClr val="F8FAFC"/>
                </a:solidFill>
                <a:latin typeface="Segoe UI"/>
              </a:defRPr>
            </a:pPr>
            <a:r>
              <a:t>• Mobile Cybersecurity &amp; On-Device Telemetry</a:t>
            </a:r>
            <a:br/>
            <a:r>
              <a:t>• Deterministic Zero-Trust Scoring</a:t>
            </a:r>
            <a:br/>
            <a:r>
              <a:t>• Grounded RAG Threat Intelligence</a:t>
            </a:r>
            <a:br/>
            <a:r>
              <a:t>• Human-Centered UI/UX Engineering</a:t>
            </a:r>
          </a:p>
        </p:txBody>
      </p:sp>
      <p:sp>
        <p:nvSpPr>
          <p:cNvPr id="8" name="Rounded Rectangle 7"/>
          <p:cNvSpPr/>
          <p:nvPr/>
        </p:nvSpPr>
        <p:spPr>
          <a:xfrm>
            <a:off x="4389120" y="3657600"/>
            <a:ext cx="3291840" cy="237744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840480"/>
            <a:ext cx="2926080" cy="365760"/>
          </a:xfrm>
          <a:prstGeom prst="rect">
            <a:avLst/>
          </a:prstGeom>
          <a:noFill/>
        </p:spPr>
        <p:txBody>
          <a:bodyPr wrap="square" lIns="0" tIns="0" rIns="0" bIns="0">
            <a:spAutoFit/>
          </a:bodyPr>
          <a:lstStyle/>
          <a:p>
            <a:pPr>
              <a:defRPr sz="1400" b="1">
                <a:solidFill>
                  <a:srgbClr val="10B981"/>
                </a:solidFill>
                <a:latin typeface="Segoe UI"/>
              </a:defRPr>
            </a:pPr>
            <a:r>
              <a:t>TECHNICAL FOUNDATION</a:t>
            </a:r>
          </a:p>
        </p:txBody>
      </p:sp>
      <p:sp>
        <p:nvSpPr>
          <p:cNvPr id="10" name="TextBox 9"/>
          <p:cNvSpPr txBox="1"/>
          <p:nvPr/>
        </p:nvSpPr>
        <p:spPr>
          <a:xfrm>
            <a:off x="4572000" y="4206240"/>
            <a:ext cx="2926080" cy="1645920"/>
          </a:xfrm>
          <a:prstGeom prst="rect">
            <a:avLst/>
          </a:prstGeom>
          <a:noFill/>
        </p:spPr>
        <p:txBody>
          <a:bodyPr wrap="square">
            <a:spAutoFit/>
          </a:bodyPr>
          <a:lstStyle/>
          <a:p>
            <a:pPr>
              <a:defRPr sz="1200">
                <a:solidFill>
                  <a:srgbClr val="F8FAFC"/>
                </a:solidFill>
                <a:latin typeface="Segoe UI"/>
              </a:defRPr>
            </a:pPr>
            <a:r>
              <a:t>• Frontend: React Native &amp; Expo SDK 57</a:t>
            </a:r>
            <a:br/>
            <a:r>
              <a:t>• Backend: Node.js, Express, Helmet, CORS</a:t>
            </a:r>
            <a:br/>
            <a:r>
              <a:t>• Language: 100% Strict TypeScript</a:t>
            </a:r>
            <a:br/>
            <a:r>
              <a:t>• Testing: Jest (25 Suites, 118 Unit Tests)</a:t>
            </a:r>
            <a:br/>
            <a:r>
              <a:t>• Hardware: Native 802.11 &amp; Camera APIs</a:t>
            </a:r>
          </a:p>
        </p:txBody>
      </p:sp>
      <p:sp>
        <p:nvSpPr>
          <p:cNvPr id="11" name="Rounded Rectangle 10"/>
          <p:cNvSpPr/>
          <p:nvPr/>
        </p:nvSpPr>
        <p:spPr>
          <a:xfrm>
            <a:off x="8046720" y="3657600"/>
            <a:ext cx="3383280" cy="237744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840480"/>
            <a:ext cx="3017520" cy="365760"/>
          </a:xfrm>
          <a:prstGeom prst="rect">
            <a:avLst/>
          </a:prstGeom>
          <a:noFill/>
        </p:spPr>
        <p:txBody>
          <a:bodyPr wrap="square" lIns="0" tIns="0" rIns="0" bIns="0">
            <a:spAutoFit/>
          </a:bodyPr>
          <a:lstStyle/>
          <a:p>
            <a:pPr>
              <a:defRPr sz="1400" b="1">
                <a:solidFill>
                  <a:srgbClr val="34D399"/>
                </a:solidFill>
                <a:latin typeface="Segoe UI"/>
              </a:defRPr>
            </a:pPr>
            <a:r>
              <a:t>REVIEW DETAILS</a:t>
            </a:r>
          </a:p>
        </p:txBody>
      </p:sp>
      <p:sp>
        <p:nvSpPr>
          <p:cNvPr id="13" name="TextBox 12"/>
          <p:cNvSpPr txBox="1"/>
          <p:nvPr/>
        </p:nvSpPr>
        <p:spPr>
          <a:xfrm>
            <a:off x="8229600" y="4206240"/>
            <a:ext cx="3017520" cy="1645920"/>
          </a:xfrm>
          <a:prstGeom prst="rect">
            <a:avLst/>
          </a:prstGeom>
          <a:noFill/>
        </p:spPr>
        <p:txBody>
          <a:bodyPr wrap="square">
            <a:spAutoFit/>
          </a:bodyPr>
          <a:lstStyle/>
          <a:p>
            <a:pPr>
              <a:defRPr sz="1200">
                <a:solidFill>
                  <a:srgbClr val="F8FAFC"/>
                </a:solidFill>
                <a:latin typeface="Segoe UI"/>
              </a:defRPr>
            </a:pPr>
            <a:r>
              <a:t>• Candidate: Arun V.</a:t>
            </a:r>
            <a:br/>
            <a:r>
              <a:t>• Guide: Department Mentor &amp; Guide</a:t>
            </a:r>
            <a:br/>
            <a:r>
              <a:t>• Department: Computer Science &amp; Engineering</a:t>
            </a:r>
            <a:br/>
            <a:r>
              <a:t>• Review Date: October 22, 2026</a:t>
            </a:r>
            <a:br/>
            <a:r>
              <a:t>• Live Hardware Status: Connected &amp; 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PROBLEM CONTEXT</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Motivation &amp; The Citizen Security Chasm</a:t>
            </a:r>
          </a:p>
        </p:txBody>
      </p:sp>
      <p:sp>
        <p:nvSpPr>
          <p:cNvPr id="5" name="Rounded Rectangle 4"/>
          <p:cNvSpPr/>
          <p:nvPr/>
        </p:nvSpPr>
        <p:spPr>
          <a:xfrm>
            <a:off x="731520" y="1463040"/>
            <a:ext cx="338328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365760"/>
          </a:xfrm>
          <a:prstGeom prst="rect">
            <a:avLst/>
          </a:prstGeom>
          <a:noFill/>
        </p:spPr>
        <p:txBody>
          <a:bodyPr wrap="square" lIns="0" tIns="0" rIns="0" bIns="0">
            <a:spAutoFit/>
          </a:bodyPr>
          <a:lstStyle/>
          <a:p>
            <a:pPr>
              <a:defRPr sz="1400" b="1">
                <a:solidFill>
                  <a:srgbClr val="F43F5E"/>
                </a:solidFill>
                <a:latin typeface="Segoe UI"/>
              </a:defRPr>
            </a:pPr>
            <a:r>
              <a:t>THE ESCALATING THREAT</a:t>
            </a:r>
          </a:p>
        </p:txBody>
      </p:sp>
      <p:sp>
        <p:nvSpPr>
          <p:cNvPr id="7" name="TextBox 6"/>
          <p:cNvSpPr txBox="1"/>
          <p:nvPr/>
        </p:nvSpPr>
        <p:spPr>
          <a:xfrm>
            <a:off x="914400" y="2011680"/>
            <a:ext cx="3017520" cy="3931920"/>
          </a:xfrm>
          <a:prstGeom prst="rect">
            <a:avLst/>
          </a:prstGeom>
          <a:noFill/>
        </p:spPr>
        <p:txBody>
          <a:bodyPr wrap="square">
            <a:spAutoFit/>
          </a:bodyPr>
          <a:lstStyle/>
          <a:p>
            <a:pPr>
              <a:defRPr sz="1200">
                <a:solidFill>
                  <a:srgbClr val="F8FAFC"/>
                </a:solidFill>
              </a:defRPr>
            </a:pPr>
            <a:r>
              <a:t>• Everyday Citizens Targeted:</a:t>
            </a:r>
            <a:br/>
            <a:r>
              <a:t>  Attacks like QR phishing ('quishing'), deceptive links, and rogue Wi-Fi hotspots directly target non-technical citizens.</a:t>
            </a:r>
            <a:br/>
            <a:br/>
            <a:r>
              <a:t>• Invisible Attack Vectors:</a:t>
            </a:r>
            <a:br/>
            <a:r>
              <a:t>  Missing 802.11w Protected Management Frames (PMF) permit silent deauthentication jamming.</a:t>
            </a:r>
            <a:br/>
            <a:br/>
            <a:r>
              <a:t>• Zero Visual Clues:</a:t>
            </a:r>
            <a:br/>
            <a:r>
              <a:t>  Homoglyph domain spoofs look identical to authentic portals on high-DPI screens.</a:t>
            </a:r>
          </a:p>
        </p:txBody>
      </p:sp>
      <p:sp>
        <p:nvSpPr>
          <p:cNvPr id="8" name="Rounded Rectangle 7"/>
          <p:cNvSpPr/>
          <p:nvPr/>
        </p:nvSpPr>
        <p:spPr>
          <a:xfrm>
            <a:off x="4389120" y="1463040"/>
            <a:ext cx="33832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45920"/>
            <a:ext cx="3017520" cy="365760"/>
          </a:xfrm>
          <a:prstGeom prst="rect">
            <a:avLst/>
          </a:prstGeom>
          <a:noFill/>
        </p:spPr>
        <p:txBody>
          <a:bodyPr wrap="square" lIns="0" tIns="0" rIns="0" bIns="0">
            <a:spAutoFit/>
          </a:bodyPr>
          <a:lstStyle/>
          <a:p>
            <a:pPr>
              <a:defRPr sz="1400" b="1">
                <a:solidFill>
                  <a:srgbClr val="38BDF8"/>
                </a:solidFill>
                <a:latin typeface="Segoe UI"/>
              </a:defRPr>
            </a:pPr>
            <a:r>
              <a:t>THE USABILITY CHASM</a:t>
            </a:r>
          </a:p>
        </p:txBody>
      </p:sp>
      <p:sp>
        <p:nvSpPr>
          <p:cNvPr id="10" name="TextBox 9"/>
          <p:cNvSpPr txBox="1"/>
          <p:nvPr/>
        </p:nvSpPr>
        <p:spPr>
          <a:xfrm>
            <a:off x="4572000" y="2011680"/>
            <a:ext cx="3017520" cy="3931920"/>
          </a:xfrm>
          <a:prstGeom prst="rect">
            <a:avLst/>
          </a:prstGeom>
          <a:noFill/>
        </p:spPr>
        <p:txBody>
          <a:bodyPr wrap="square">
            <a:spAutoFit/>
          </a:bodyPr>
          <a:lstStyle/>
          <a:p>
            <a:pPr>
              <a:defRPr sz="1200">
                <a:solidFill>
                  <a:srgbClr val="F8FAFC"/>
                </a:solidFill>
              </a:defRPr>
            </a:pPr>
            <a:r>
              <a:t>• Enterprise Tools Fail Citizens:</a:t>
            </a:r>
            <a:br/>
            <a:r>
              <a:t>  Tools like Wireshark, Burp Suite, and Nmap are built for certified analysts, not ordinary smartphone users.</a:t>
            </a:r>
            <a:br/>
            <a:br/>
            <a:r>
              <a:t>• Jargon Overload:</a:t>
            </a:r>
            <a:br/>
            <a:r>
              <a:t>  Displaying 'RFC1918 private loopback' or 'SAE 4-way handshake' alienates users.</a:t>
            </a:r>
            <a:br/>
            <a:br/>
            <a:r>
              <a:t>• Inactionable Fear:</a:t>
            </a:r>
            <a:br/>
            <a:r>
              <a:t>  Alerts fail to answer the citizen's only question: 'Am I safe, and what should I do right now?'</a:t>
            </a:r>
          </a:p>
        </p:txBody>
      </p:sp>
      <p:sp>
        <p:nvSpPr>
          <p:cNvPr id="11" name="Rounded Rectangle 10"/>
          <p:cNvSpPr/>
          <p:nvPr/>
        </p:nvSpPr>
        <p:spPr>
          <a:xfrm>
            <a:off x="8046720" y="1463040"/>
            <a:ext cx="338328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3017520" cy="365760"/>
          </a:xfrm>
          <a:prstGeom prst="rect">
            <a:avLst/>
          </a:prstGeom>
          <a:noFill/>
        </p:spPr>
        <p:txBody>
          <a:bodyPr wrap="square" lIns="0" tIns="0" rIns="0" bIns="0">
            <a:spAutoFit/>
          </a:bodyPr>
          <a:lstStyle/>
          <a:p>
            <a:pPr>
              <a:defRPr sz="1400" b="1">
                <a:solidFill>
                  <a:srgbClr val="34D399"/>
                </a:solidFill>
                <a:latin typeface="Segoe UI"/>
              </a:defRPr>
            </a:pPr>
            <a:r>
              <a:t>THE PRIVACY DILEMMA</a:t>
            </a:r>
          </a:p>
        </p:txBody>
      </p:sp>
      <p:sp>
        <p:nvSpPr>
          <p:cNvPr id="13" name="TextBox 12"/>
          <p:cNvSpPr txBox="1"/>
          <p:nvPr/>
        </p:nvSpPr>
        <p:spPr>
          <a:xfrm>
            <a:off x="8229600" y="2011680"/>
            <a:ext cx="3017520" cy="3931920"/>
          </a:xfrm>
          <a:prstGeom prst="rect">
            <a:avLst/>
          </a:prstGeom>
          <a:noFill/>
        </p:spPr>
        <p:txBody>
          <a:bodyPr wrap="square">
            <a:spAutoFit/>
          </a:bodyPr>
          <a:lstStyle/>
          <a:p>
            <a:pPr>
              <a:defRPr sz="1200">
                <a:solidFill>
                  <a:srgbClr val="F8FAFC"/>
                </a:solidFill>
              </a:defRPr>
            </a:pPr>
            <a:r>
              <a:t>• Anti-Virus Privacy Violations:</a:t>
            </a:r>
            <a:br/>
            <a:r>
              <a:t>  Commercial antivirus suites regularly harvest browsing logs, app lists, and Wi-Fi SSIDs to external telemetry servers.</a:t>
            </a:r>
            <a:br/>
            <a:br/>
            <a:r>
              <a:t>• Zero-Trust Mandate:</a:t>
            </a:r>
            <a:br/>
            <a:r>
              <a:t>  A security tool must never become a spyware vector itself.</a:t>
            </a:r>
            <a:br/>
            <a:br/>
            <a:r>
              <a:t>• Our Engineering Answer:</a:t>
            </a:r>
            <a:br/>
            <a:r>
              <a:t>  Zero-PII local evaluation combined with mathematical determinism.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OBJECTIVES</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Problem Statement &amp; Core Engineering Objectives</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38BDF8"/>
                </a:solidFill>
                <a:latin typeface="Segoe UI"/>
              </a:defRPr>
            </a:pPr>
            <a:r>
              <a:t>FORMAL PROBLEM STATEMENT</a:t>
            </a:r>
          </a:p>
        </p:txBody>
      </p:sp>
      <p:sp>
        <p:nvSpPr>
          <p:cNvPr id="7" name="TextBox 6"/>
          <p:cNvSpPr txBox="1"/>
          <p:nvPr/>
        </p:nvSpPr>
        <p:spPr>
          <a:xfrm>
            <a:off x="1005840" y="2103120"/>
            <a:ext cx="4572000" cy="3840480"/>
          </a:xfrm>
          <a:prstGeom prst="rect">
            <a:avLst/>
          </a:prstGeom>
          <a:noFill/>
        </p:spPr>
        <p:txBody>
          <a:bodyPr wrap="square">
            <a:spAutoFit/>
          </a:bodyPr>
          <a:lstStyle/>
          <a:p>
            <a:pPr>
              <a:defRPr sz="1500" i="1">
                <a:solidFill>
                  <a:srgbClr val="F8FAFC"/>
                </a:solidFill>
              </a:defRPr>
            </a:pPr>
            <a:r>
              <a:t>"To architect a private, on-device mobile defense system that passively and actively evaluates ambient cyber risks across Wi-Fi, URLs, QR codes, and application permissions, converting complex cryptographic parameters into an intuitive 0–100 defense posture without transmitting user PII."</a:t>
            </a:r>
          </a:p>
          <a:p>
            <a:br/>
            <a:pPr>
              <a:spcBef>
                <a:spcPts val="1400"/>
              </a:spcBef>
              <a:defRPr sz="1300">
                <a:solidFill>
                  <a:srgbClr val="94A3B8"/>
                </a:solidFill>
              </a:defRPr>
            </a:pPr>
            <a:r>
              <a:t>Core Research Question:</a:t>
            </a:r>
            <a:br/>
            <a:r>
              <a:t>How can low-level 802.11 cryptographic state, optical camera payloads, and Android sensor matrices be evaluated deterministically in real-time on consumer smartphones while keeping user private data 100% on-device?</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10B981"/>
                </a:solidFill>
                <a:latin typeface="Segoe UI"/>
              </a:defRPr>
            </a:pPr>
            <a:r>
              <a:t>FIVE CORE PILLARS</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150">
                <a:solidFill>
                  <a:srgbClr val="F8FAFC"/>
                </a:solidFill>
              </a:defRPr>
            </a:pPr>
            <a:r>
              <a:t>1. ZERO MOCK DATA</a:t>
            </a:r>
            <a:br/>
            <a:r>
              <a:t>   Query real physical 802.11 Wi-Fi radios and native camera hardware. No hardcoded or fabricated telemetry.</a:t>
            </a:r>
            <a:br/>
            <a:br/>
            <a:r>
              <a:t>2. DETERMINISTIC RISK SCORING</a:t>
            </a:r>
            <a:br/>
            <a:r>
              <a:t>   Pure mathematical, monotonic scoring (0–100) in packages/scoring-core. Never hallucinated by generative AI.</a:t>
            </a:r>
            <a:br/>
            <a:br/>
            <a:r>
              <a:t>3. ZERO-PII LOCAL AUDIT &amp; SSRF GUARD</a:t>
            </a:r>
            <a:br/>
            <a:r>
              <a:t>   Block RFC1918 loopback pivots and evaluate app sensor permissions purely on the client.</a:t>
            </a:r>
            <a:br/>
            <a:br/>
            <a:r>
              <a:t>4. APPLE-INSPIRED LIQUID GLASS UI</a:t>
            </a:r>
            <a:br/>
            <a:r>
              <a:t>   Frosted translucency, floating nav, and plain-language citizen guidance at 60 FPS.</a:t>
            </a:r>
            <a:br/>
            <a:br/>
            <a:r>
              <a:t>5. RIGOROUS AUTOMATED VERIFICATION</a:t>
            </a:r>
            <a:br/>
            <a:r>
              <a:t>   25 test suites, 118 unit and penetration tests, 100% pass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ARCHITECTURE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System Architecture &amp; Monorepo Design</a:t>
            </a:r>
          </a:p>
        </p:txBody>
      </p:sp>
      <p:sp>
        <p:nvSpPr>
          <p:cNvPr id="5" name="Rounded Rectangle 4"/>
          <p:cNvSpPr/>
          <p:nvPr/>
        </p:nvSpPr>
        <p:spPr>
          <a:xfrm>
            <a:off x="731520" y="1463040"/>
            <a:ext cx="33832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365760"/>
          </a:xfrm>
          <a:prstGeom prst="rect">
            <a:avLst/>
          </a:prstGeom>
          <a:noFill/>
        </p:spPr>
        <p:txBody>
          <a:bodyPr wrap="square" lIns="0" tIns="0" rIns="0" bIns="0">
            <a:spAutoFit/>
          </a:bodyPr>
          <a:lstStyle/>
          <a:p>
            <a:pPr>
              <a:defRPr sz="1400" b="1">
                <a:solidFill>
                  <a:srgbClr val="38BDF8"/>
                </a:solidFill>
                <a:latin typeface="Segoe UI"/>
              </a:defRPr>
            </a:pPr>
            <a:r>
              <a:t>CLIENT TIER (apps/mobile)</a:t>
            </a:r>
          </a:p>
        </p:txBody>
      </p:sp>
      <p:sp>
        <p:nvSpPr>
          <p:cNvPr id="7" name="TextBox 6"/>
          <p:cNvSpPr txBox="1"/>
          <p:nvPr/>
        </p:nvSpPr>
        <p:spPr>
          <a:xfrm>
            <a:off x="914400" y="2011680"/>
            <a:ext cx="3017520" cy="3931920"/>
          </a:xfrm>
          <a:prstGeom prst="rect">
            <a:avLst/>
          </a:prstGeom>
          <a:noFill/>
        </p:spPr>
        <p:txBody>
          <a:bodyPr wrap="square">
            <a:spAutoFit/>
          </a:bodyPr>
          <a:lstStyle/>
          <a:p>
            <a:pPr>
              <a:defRPr sz="1150">
                <a:solidFill>
                  <a:srgbClr val="F8FAFC"/>
                </a:solidFill>
              </a:defRPr>
            </a:pPr>
            <a:r>
              <a:t>• Liquid Glass UI System:</a:t>
            </a:r>
            <a:br/>
            <a:r>
              <a:t>  - GlassCard, FloatingNav, AmbientGlow</a:t>
            </a:r>
            <a:br/>
            <a:r>
              <a:t>  - Dual Theme Engine (Light / Cyber Dark)</a:t>
            </a:r>
            <a:br/>
            <a:br/>
            <a:r>
              <a:t>• Passive Airspace Scanner:</a:t>
            </a:r>
            <a:br/>
            <a:r>
              <a:t>  - Live 802.11 Beacon Telemetry</a:t>
            </a:r>
            <a:br/>
            <a:r>
              <a:t>  - WPA3-SAE &amp; 802.11w PMF Check</a:t>
            </a:r>
            <a:br/>
            <a:br/>
            <a:r>
              <a:t>• Optical QR Sanitizer:</a:t>
            </a:r>
            <a:br/>
            <a:r>
              <a:t>  - Isolated in-memory sandbox</a:t>
            </a:r>
            <a:br/>
            <a:r>
              <a:t>  - Prevents auto-execution exploits</a:t>
            </a:r>
            <a:br/>
            <a:br/>
            <a:r>
              <a:t>• App Privacy Auditor:</a:t>
            </a:r>
            <a:br/>
            <a:r>
              <a:t>  - Local sensor matrix evaluation</a:t>
            </a:r>
            <a:br/>
            <a:r>
              <a:t>  - Zero PII leaves the smartphone</a:t>
            </a:r>
          </a:p>
        </p:txBody>
      </p:sp>
      <p:sp>
        <p:nvSpPr>
          <p:cNvPr id="8" name="Rounded Rectangle 7"/>
          <p:cNvSpPr/>
          <p:nvPr/>
        </p:nvSpPr>
        <p:spPr>
          <a:xfrm>
            <a:off x="4389120" y="1463040"/>
            <a:ext cx="33832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45920"/>
            <a:ext cx="3017520" cy="365760"/>
          </a:xfrm>
          <a:prstGeom prst="rect">
            <a:avLst/>
          </a:prstGeom>
          <a:noFill/>
        </p:spPr>
        <p:txBody>
          <a:bodyPr wrap="square" lIns="0" tIns="0" rIns="0" bIns="0">
            <a:spAutoFit/>
          </a:bodyPr>
          <a:lstStyle/>
          <a:p>
            <a:pPr>
              <a:defRPr sz="1400" b="1">
                <a:solidFill>
                  <a:srgbClr val="10B981"/>
                </a:solidFill>
                <a:latin typeface="Segoe UI"/>
              </a:defRPr>
            </a:pPr>
            <a:r>
              <a:t>SCORING CORE (packages/scoring-core)</a:t>
            </a:r>
          </a:p>
        </p:txBody>
      </p:sp>
      <p:sp>
        <p:nvSpPr>
          <p:cNvPr id="10" name="TextBox 9"/>
          <p:cNvSpPr txBox="1"/>
          <p:nvPr/>
        </p:nvSpPr>
        <p:spPr>
          <a:xfrm>
            <a:off x="4572000" y="2011680"/>
            <a:ext cx="3017520" cy="3931920"/>
          </a:xfrm>
          <a:prstGeom prst="rect">
            <a:avLst/>
          </a:prstGeom>
          <a:noFill/>
        </p:spPr>
        <p:txBody>
          <a:bodyPr wrap="square">
            <a:spAutoFit/>
          </a:bodyPr>
          <a:lstStyle/>
          <a:p>
            <a:pPr>
              <a:defRPr sz="1150">
                <a:solidFill>
                  <a:srgbClr val="F8FAFC"/>
                </a:solidFill>
              </a:defRPr>
            </a:pPr>
            <a:r>
              <a:t>• Monotonic Mathematical Engine:</a:t>
            </a:r>
            <a:br/>
            <a:r>
              <a:t>  - Pure TypeScript, zero I/O side effects</a:t>
            </a:r>
            <a:br/>
            <a:r>
              <a:t>  - Sub-millisecond compute latency</a:t>
            </a:r>
            <a:br/>
            <a:br/>
            <a:r>
              <a:t>• Rigorous Calibrated Functions:</a:t>
            </a:r>
            <a:br/>
            <a:r>
              <a:t>  - Wi-Fi risk calculation formula</a:t>
            </a:r>
            <a:br/>
            <a:r>
              <a:t>  - URL heuristic score evaluation</a:t>
            </a:r>
            <a:br/>
            <a:r>
              <a:t>  - QR payload risk mapping</a:t>
            </a:r>
            <a:br/>
            <a:r>
              <a:t>  - App hygiene index</a:t>
            </a:r>
            <a:br/>
            <a:br/>
            <a:r>
              <a:t>• Provable Invariants:</a:t>
            </a:r>
            <a:br/>
            <a:r>
              <a:t>  - Monotonicity: threat strictly lowers defense</a:t>
            </a:r>
            <a:br/>
            <a:r>
              <a:t>  - Strict bounds: 0 &lt;= Score &lt;= 100</a:t>
            </a:r>
            <a:br/>
            <a:r>
              <a:t>  - 100% Jest test coverage</a:t>
            </a:r>
          </a:p>
        </p:txBody>
      </p:sp>
      <p:sp>
        <p:nvSpPr>
          <p:cNvPr id="11" name="Rounded Rectangle 10"/>
          <p:cNvSpPr/>
          <p:nvPr/>
        </p:nvSpPr>
        <p:spPr>
          <a:xfrm>
            <a:off x="8046720" y="1463040"/>
            <a:ext cx="338328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3017520" cy="365760"/>
          </a:xfrm>
          <a:prstGeom prst="rect">
            <a:avLst/>
          </a:prstGeom>
          <a:noFill/>
        </p:spPr>
        <p:txBody>
          <a:bodyPr wrap="square" lIns="0" tIns="0" rIns="0" bIns="0">
            <a:spAutoFit/>
          </a:bodyPr>
          <a:lstStyle/>
          <a:p>
            <a:pPr>
              <a:defRPr sz="1400" b="1">
                <a:solidFill>
                  <a:srgbClr val="34D399"/>
                </a:solidFill>
                <a:latin typeface="Segoe UI"/>
              </a:defRPr>
            </a:pPr>
            <a:r>
              <a:t>GATEWAY TIER (apps/api)</a:t>
            </a:r>
          </a:p>
        </p:txBody>
      </p:sp>
      <p:sp>
        <p:nvSpPr>
          <p:cNvPr id="13" name="TextBox 12"/>
          <p:cNvSpPr txBox="1"/>
          <p:nvPr/>
        </p:nvSpPr>
        <p:spPr>
          <a:xfrm>
            <a:off x="8229600" y="2011680"/>
            <a:ext cx="3017520" cy="3931920"/>
          </a:xfrm>
          <a:prstGeom prst="rect">
            <a:avLst/>
          </a:prstGeom>
          <a:noFill/>
        </p:spPr>
        <p:txBody>
          <a:bodyPr wrap="square">
            <a:spAutoFit/>
          </a:bodyPr>
          <a:lstStyle/>
          <a:p>
            <a:pPr>
              <a:defRPr sz="1150">
                <a:solidFill>
                  <a:srgbClr val="F8FAFC"/>
                </a:solidFill>
              </a:defRPr>
            </a:pPr>
            <a:r>
              <a:t>• Hardened Express Service:</a:t>
            </a:r>
            <a:br/>
            <a:r>
              <a:t>  - Helmet, Strict CORS, Rate Limiting</a:t>
            </a:r>
            <a:br/>
            <a:r>
              <a:t>  - Port 5000 / Reverse ADB Tunnel</a:t>
            </a:r>
            <a:br/>
            <a:br/>
            <a:r>
              <a:t>• SSRF Guard Engine:</a:t>
            </a:r>
            <a:br/>
            <a:r>
              <a:t>  - Blocks RFC1918 private ranges</a:t>
            </a:r>
            <a:br/>
            <a:r>
              <a:t>  - Blocks 127.0.0.1 and link-local IP</a:t>
            </a:r>
            <a:br/>
            <a:r>
              <a:t>  - Prevents internal LAN pivoting</a:t>
            </a:r>
            <a:br/>
            <a:br/>
            <a:r>
              <a:t>• Grounded AI Explainer (RAG):</a:t>
            </a:r>
            <a:br/>
            <a:r>
              <a:t>  - Anchored to curated KB-001..KB-008</a:t>
            </a:r>
            <a:br/>
            <a:r>
              <a:t>  - Zero hallucination guarantee</a:t>
            </a:r>
            <a:br/>
            <a:r>
              <a:t>  - Prompt injection sanitizer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AIRSPACE RADAR</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Module 1: Real 802.11 Airspace Wi-Fi Scanner</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38BDF8"/>
                </a:solidFill>
                <a:latin typeface="Segoe UI"/>
              </a:defRPr>
            </a:pPr>
            <a:r>
              <a:t>PASSIVE 802.11 BEACON AUDITING</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Zero Mock Airspace Guarantee:</a:t>
            </a:r>
            <a:br/>
            <a:r>
              <a:t>  Interfaces directly with device Wi-Fi radio to scan real local SSIDs in ambient space.</a:t>
            </a:r>
            <a:br/>
            <a:br/>
            <a:r>
              <a:t>• Cryptographic Standard Detection:</a:t>
            </a:r>
            <a:br/>
            <a:r>
              <a:t>  - WPA3-SAE (Simultaneous Authentication of Equals)</a:t>
            </a:r>
            <a:br/>
            <a:r>
              <a:t>  - WPA2-Personal (PSK / CCMP)</a:t>
            </a:r>
            <a:br/>
            <a:r>
              <a:t>  - Legacy WEP / Insecure Open Hotspots</a:t>
            </a:r>
            <a:br/>
            <a:br/>
            <a:r>
              <a:t>• Protected Management Frames (802.11w PMF):</a:t>
            </a:r>
            <a:br/>
            <a:r>
              <a:t>  Inspects beacon capabilities for PMF enforcement. Without PMF, attackers can easily launch deauthentication frame floods to kick devices off the network.</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F43F5E"/>
                </a:solidFill>
                <a:latin typeface="Segoe UI"/>
              </a:defRPr>
            </a:pPr>
            <a:r>
              <a:t>IDENTIFIED ATTACK VECTORS</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Evil Twin Rogue Hotspots:</a:t>
            </a:r>
            <a:br/>
            <a:r>
              <a:t>  Detects unauthorized open access points broadcasting identical SSIDs with abnormal BSSID and signal profiles.</a:t>
            </a:r>
            <a:br/>
            <a:br/>
            <a:r>
              <a:t>• Captive Portal Traps:</a:t>
            </a:r>
            <a:br/>
            <a:r>
              <a:t>  Flags unencrypted public networks that intercept traffic before external DNS handshakes.</a:t>
            </a:r>
            <a:br/>
            <a:br/>
            <a:r>
              <a:t>• Deauthentication Jamming Risk:</a:t>
            </a:r>
            <a:br/>
            <a:r>
              <a:t>  Maps missing PMF flags directly to high risk: informs citizen if network is prone to packet disconnection attacks.</a:t>
            </a:r>
            <a:br/>
            <a:br/>
            <a:r>
              <a:t>• Deterministic Wi-Fi Risk Output:</a:t>
            </a:r>
            <a:br/>
            <a:r>
              <a:t>  Produces 0–100 monotonic risk verdict with human-readable citizen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HYPERLINK DEFENSE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Module 2: Live Web Guard &amp; SSRF Protection</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F43F5E"/>
                </a:solidFill>
                <a:latin typeface="Segoe UI"/>
              </a:defRPr>
            </a:pPr>
            <a:r>
              <a:t>SSRF &amp; PRIVATE NETWORK SHIELD</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Server-Side Request Forgery Defense:</a:t>
            </a:r>
            <a:br/>
            <a:r>
              <a:t>  Attackers often craft links to pivot into private residential/office network infrastructure.</a:t>
            </a:r>
            <a:br/>
            <a:br/>
            <a:r>
              <a:t>• Strict RFC1918 Blocking Engine:</a:t>
            </a:r>
            <a:br/>
            <a:r>
              <a:t>  - 10.0.0.0/8 (Class A Private)</a:t>
            </a:r>
            <a:br/>
            <a:r>
              <a:t>  - 172.16.0.0/12 (Class B Private)</a:t>
            </a:r>
            <a:br/>
            <a:r>
              <a:t>  - 192.168.0.0/16 (Home Gateway / Router Subnets)</a:t>
            </a:r>
            <a:br/>
            <a:br/>
            <a:r>
              <a:t>• Loopback &amp; Cloud Metadata Interception:</a:t>
            </a:r>
            <a:br/>
            <a:r>
              <a:t>  Blocks 127.0.0.1, localhost, and AWS/GCP metadata address 169.254.169.254 immediately with CRITICAL 98/100 risk.</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38BDF8"/>
                </a:solidFill>
                <a:latin typeface="Segoe UI"/>
              </a:defRPr>
            </a:pPr>
            <a:r>
              <a:t>DECEPTION HEURISTICS &amp; PHISHING</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Homoglyph &amp; Punycode Deobfuscation:</a:t>
            </a:r>
            <a:br/>
            <a:r>
              <a:t>  Identifies Cyrillic, Greek, and visually spoofed Unicode characters disguised as legitimate financial institutions.</a:t>
            </a:r>
            <a:br/>
            <a:br/>
            <a:r>
              <a:t>• High-Risk TLD &amp; Path Analysis:</a:t>
            </a:r>
            <a:br/>
            <a:r>
              <a:t>  Inspects newly registered or high-abuse TLDs (.xyz, .top, .cc, .buzz) combined with credential-harvesting paths (/login, /verify, /wallet).</a:t>
            </a:r>
            <a:br/>
            <a:br/>
            <a:r>
              <a:t>• Cleartext Protocol Warnings:</a:t>
            </a:r>
            <a:br/>
            <a:r>
              <a:t>  Warns against unencrypted http:// transmissions before users can enter sensitive credentials.</a:t>
            </a:r>
            <a:br/>
            <a:br/>
            <a:r>
              <a:t>• 1-Tap 'Ask AI Explainer':</a:t>
            </a:r>
            <a:br/>
            <a:r>
              <a:t>  Seamlessly links scan result into RAG explainer for contextual education.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OPTICAL FIREWALL</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Module 3: Sandboxed QR Optical Intent Sanitizer</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F43F5E"/>
                </a:solidFill>
                <a:latin typeface="Segoe UI"/>
              </a:defRPr>
            </a:pPr>
            <a:r>
              <a:t>THE DANGER: AUTO-EXECUTION ('QUISHING')</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Default Camera Apps are Blind:</a:t>
            </a:r>
            <a:br/>
            <a:r>
              <a:t>  Stock smartphone camera apps automatically parse and execute QR intents without vetting payload safety.</a:t>
            </a:r>
            <a:br/>
            <a:br/>
            <a:r>
              <a:t>• Dangerous Attack Vectors:</a:t>
            </a:r>
            <a:br/>
            <a:r>
              <a:t>  - Auto-opening credential phishing sites</a:t>
            </a:r>
            <a:br/>
            <a:r>
              <a:t>  - Auto-connecting to unencrypted rogue Wi-Fi (WIFI:S:...;)</a:t>
            </a:r>
            <a:br/>
            <a:r>
              <a:t>  - Auto-dialing premium rate USSD numbers (tel:*21*...)</a:t>
            </a:r>
            <a:br/>
            <a:r>
              <a:t>  - Silent SMS authorization requests</a:t>
            </a:r>
            <a:br/>
            <a:br/>
            <a:r>
              <a:t>• Rapid Real-World Exploitation:</a:t>
            </a:r>
            <a:br/>
            <a:r>
              <a:t>  Fraudulent stickers pasted on public parking meters, restaurant menus, and payment stands.</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10B981"/>
                </a:solidFill>
                <a:latin typeface="Segoe UI"/>
              </a:defRPr>
            </a:pPr>
            <a:r>
              <a:t>CYBER COMPANION OPTICAL FIREWALL</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In-Memory Zero-Execution Sandbox:</a:t>
            </a:r>
            <a:br/>
            <a:r>
              <a:t>  Raw barcode data is captured in an isolated memory buffer and NEVER auto-executed.</a:t>
            </a:r>
            <a:br/>
            <a:br/>
            <a:r>
              <a:t>• Intent Parsing &amp; Classification:</a:t>
            </a:r>
            <a:br/>
            <a:r>
              <a:t>  Deconstructs payload into URL, Wi-Fi config, SMS, or Raw Text with strict character sanitization.</a:t>
            </a:r>
            <a:br/>
            <a:br/>
            <a:r>
              <a:t>• Optical Laser Viewfinder:</a:t>
            </a:r>
            <a:br/>
            <a:r>
              <a:t>  Built with Expo Camera, featuring target alignment reticle, torch toggle, and camera flip.</a:t>
            </a:r>
            <a:br/>
            <a:br/>
            <a:r>
              <a:t>• Informed Citizen Consent:</a:t>
            </a:r>
            <a:br/>
            <a:r>
              <a:t>  Citizen is presented with decoded destination and threat score before any system action occurs.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PRIVACY AUDITOR</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Module 4: On-Device App Privacy Auditor</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34D399"/>
                </a:solidFill>
                <a:latin typeface="Segoe UI"/>
              </a:defRPr>
            </a:pPr>
            <a:r>
              <a:t>ZERO-PII SENSOR EVALUATION</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Strict Zero-Telemetry Architecture:</a:t>
            </a:r>
            <a:br/>
            <a:r>
              <a:t>  Application names, package identifiers, and permission profiles are audited strictly on the local device.</a:t>
            </a:r>
            <a:br/>
            <a:br/>
            <a:r>
              <a:t>• Privacy Assurance:</a:t>
            </a:r>
            <a:br/>
            <a:r>
              <a:t>  Zero package inventory telemetry is ever transmitted to the server or third parties.</a:t>
            </a:r>
            <a:br/>
            <a:br/>
            <a:r>
              <a:t>• Compliance with Play Store &amp; OWASP MASVS:</a:t>
            </a:r>
            <a:br/>
            <a:r>
              <a:t>  Follows strict least-privilege principles, eliminating unnecessary QUERY_ALL_PACKAGES background snooping.</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38BDF8"/>
                </a:solidFill>
                <a:latin typeface="Segoe UI"/>
              </a:defRPr>
            </a:pPr>
            <a:r>
              <a:t>RISK MATRIX &amp; ONE-TAP ACTION</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High-Risk Sensor Matrix:</a:t>
            </a:r>
            <a:br/>
            <a:r>
              <a:t>  - Audio Eavesdropping: RECORD_AUDIO</a:t>
            </a:r>
            <a:br/>
            <a:r>
              <a:t>  - Precision Tracking: ACCESS_FINE_LOCATION</a:t>
            </a:r>
            <a:br/>
            <a:r>
              <a:t>  - Visual Surveillance: CAMERA</a:t>
            </a:r>
            <a:br/>
            <a:r>
              <a:t>  - Screen Hijacking: SYSTEM_ALERT_WINDOW</a:t>
            </a:r>
            <a:br/>
            <a:br/>
            <a:r>
              <a:t>• App Hygiene Index (0–100):</a:t>
            </a:r>
            <a:br/>
            <a:r>
              <a:t>  Computes an aggregate privacy posture score based on overprivileged app counts.</a:t>
            </a:r>
            <a:br/>
            <a:br/>
            <a:r>
              <a:t>• Actionable 1-Tap Revocation:</a:t>
            </a:r>
            <a:br/>
            <a:r>
              <a:t>  Deep-links directly to native Android OS Application Permission Settings for instant privilege revocation.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MATHEMATICAL RIGOR</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Mathematical Core: Deterministic Scoring Engine</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F43F5E"/>
                </a:solidFill>
                <a:latin typeface="Segoe UI"/>
              </a:defRPr>
            </a:pPr>
            <a:r>
              <a:t>WHY MATH OVER GENERATIVE AI SCORING?</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The Flaw of LLM Security Scores:</a:t>
            </a:r>
            <a:br/>
            <a:r>
              <a:t>  Generative models are probabilistic. Feeding the same Wi-Fi beacon twice might produce an 80 on Monday and a 45 on Tuesday.</a:t>
            </a:r>
            <a:br/>
            <a:br/>
            <a:r>
              <a:t>• Zero Hallucination Risk:</a:t>
            </a:r>
            <a:br/>
            <a:r>
              <a:t>  Deterministic math guarantees that a rogue access point with missing encryption will ALWAYS yield an identical, predictable score.</a:t>
            </a:r>
            <a:br/>
            <a:br/>
            <a:r>
              <a:t>• Sub-Millisecond Execution:</a:t>
            </a:r>
            <a:br/>
            <a:r>
              <a:t>  Computes in &lt;1 ms on device, with zero network lag or cloud API billing dependencies.</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10B981"/>
                </a:solidFill>
                <a:latin typeface="Segoe UI"/>
              </a:defRPr>
            </a:pPr>
            <a:r>
              <a:t>MONOTONIC RISK FORMULATION</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Monotonic Risk Equation:</a:t>
            </a:r>
            <a:br/>
            <a:r>
              <a:t>  Risk_total = min(100, Σ (w_i · V_i) + Penalty_critical)</a:t>
            </a:r>
            <a:br/>
            <a:br/>
            <a:r>
              <a:t>• Defense Posture Conversion:</a:t>
            </a:r>
            <a:br/>
            <a:r>
              <a:t>  Defense Score = 100 - Risk_total</a:t>
            </a:r>
            <a:br/>
            <a:br/>
            <a:r>
              <a:t>• Strict Monotonicity Invariant:</a:t>
            </a:r>
            <a:br/>
            <a:r>
              <a:t>  Any detected vulnerability V_i &gt;= 0 strictly INCREASES Risk and strictly LOWERS Defense Score.</a:t>
            </a:r>
            <a:br/>
            <a:br/>
            <a:r>
              <a:t>• Critical Penalty Overrides:</a:t>
            </a:r>
            <a:br/>
            <a:r>
              <a:t>  Critical threats (e.g., SSRF loopback or open rogue hotspot) trigger an immediate risk floor, preventing safe factors from masking critical danger.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INTELLIGENCE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AI Threat Explainer &amp; Grounded RAG Pipeline</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38BDF8"/>
                </a:solidFill>
                <a:latin typeface="Segoe UI"/>
              </a:defRPr>
            </a:pPr>
            <a:r>
              <a:t>DUAL-LAYER COGNITIVE DEFENSE</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Division of Responsibility:</a:t>
            </a:r>
            <a:br/>
            <a:r>
              <a:t>  - Mathematical Engine determines WHAT the threat score is.</a:t>
            </a:r>
            <a:br/>
            <a:r>
              <a:t>  - Grounded Explainer articulates WHY it matters in plain citizen language.</a:t>
            </a:r>
            <a:br/>
            <a:br/>
            <a:r>
              <a:t>• The Flickering Loop Resolution:</a:t>
            </a:r>
            <a:br/>
            <a:r>
              <a:t>  Previous versions suffered state re-render flickering; engineered stable async query orchestration with active request deduplication.</a:t>
            </a:r>
            <a:br/>
            <a:br/>
            <a:r>
              <a:t>• Prompt Injection Hardening:</a:t>
            </a:r>
            <a:br/>
            <a:r>
              <a:t>  Sanitizes input queries against system prompt overrides and jailbreaking vectors.</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34D399"/>
                </a:solidFill>
                <a:latin typeface="Segoe UI"/>
              </a:defRPr>
            </a:pPr>
            <a:r>
              <a:t>GROUNDED RETRIEVAL-AUGMENTED GENERATION</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 Strict Local Knowledge Base Anchoring:</a:t>
            </a:r>
            <a:br/>
            <a:r>
              <a:t>  Responses are grounded exclusively in peer-reviewed security entries:</a:t>
            </a:r>
            <a:br/>
            <a:r>
              <a:t>  - [KB-001]: Evil Twin AP Attacks &amp; Beacon Spoofing</a:t>
            </a:r>
            <a:br/>
            <a:r>
              <a:t>  - [KB-003]: 802.11 Encryption (WPA2 vs WPA3)</a:t>
            </a:r>
            <a:br/>
            <a:r>
              <a:t>  - [KB-004]: Homoglyph &amp; Internationalized Domain Spoofs</a:t>
            </a:r>
            <a:br/>
            <a:r>
              <a:t>  - [KB-007]: 802.11w Protected Management Frames &amp; Deauth Jamming</a:t>
            </a:r>
            <a:br/>
            <a:br/>
            <a:r>
              <a:t>• Citations &amp; Verification:</a:t>
            </a:r>
            <a:br/>
            <a:r>
              <a:t>  Every explanation cites verified knowledge IDs, guaranteeing 100% factual, actionable security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FRONTEND DESIGN</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Apple-Inspired Liquid Glass Design System</a:t>
            </a:r>
          </a:p>
        </p:txBody>
      </p:sp>
      <p:sp>
        <p:nvSpPr>
          <p:cNvPr id="5" name="Rounded Rectangle 4"/>
          <p:cNvSpPr/>
          <p:nvPr/>
        </p:nvSpPr>
        <p:spPr>
          <a:xfrm>
            <a:off x="731520" y="1463040"/>
            <a:ext cx="33832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365760"/>
          </a:xfrm>
          <a:prstGeom prst="rect">
            <a:avLst/>
          </a:prstGeom>
          <a:noFill/>
        </p:spPr>
        <p:txBody>
          <a:bodyPr wrap="square" lIns="0" tIns="0" rIns="0" bIns="0">
            <a:spAutoFit/>
          </a:bodyPr>
          <a:lstStyle/>
          <a:p>
            <a:pPr>
              <a:defRPr sz="1400" b="1">
                <a:solidFill>
                  <a:srgbClr val="38BDF8"/>
                </a:solidFill>
                <a:latin typeface="Segoe UI"/>
              </a:defRPr>
            </a:pPr>
            <a:r>
              <a:t>TRANSLUCENT GLASS CARDS</a:t>
            </a:r>
          </a:p>
        </p:txBody>
      </p:sp>
      <p:sp>
        <p:nvSpPr>
          <p:cNvPr id="7" name="TextBox 6"/>
          <p:cNvSpPr txBox="1"/>
          <p:nvPr/>
        </p:nvSpPr>
        <p:spPr>
          <a:xfrm>
            <a:off x="914400" y="2011680"/>
            <a:ext cx="3017520" cy="3931920"/>
          </a:xfrm>
          <a:prstGeom prst="rect">
            <a:avLst/>
          </a:prstGeom>
          <a:noFill/>
        </p:spPr>
        <p:txBody>
          <a:bodyPr wrap="square">
            <a:spAutoFit/>
          </a:bodyPr>
          <a:lstStyle/>
          <a:p>
            <a:pPr>
              <a:defRPr sz="1200">
                <a:solidFill>
                  <a:srgbClr val="F8FAFC"/>
                </a:solidFill>
              </a:defRPr>
            </a:pPr>
            <a:r>
              <a:t>• Native Backdrop Blur:</a:t>
            </a:r>
            <a:br/>
            <a:r>
              <a:t>  Leverages Expo Blur (expo-blur) with fallback for low-spec devices.</a:t>
            </a:r>
            <a:br/>
            <a:br/>
            <a:r>
              <a:t>• Specular Reflection Rims:</a:t>
            </a:r>
            <a:br/>
            <a:r>
              <a:t>  Subtle top-edge 1px highlights mimic real physical curved glass.</a:t>
            </a:r>
            <a:br/>
            <a:br/>
            <a:r>
              <a:t>• Layered Depth &amp; Elevation:</a:t>
            </a:r>
            <a:br/>
            <a:r>
              <a:t>  Deep multi-stage drop shadows create tactile, floating surfaces.</a:t>
            </a:r>
          </a:p>
        </p:txBody>
      </p:sp>
      <p:sp>
        <p:nvSpPr>
          <p:cNvPr id="8" name="Rounded Rectangle 7"/>
          <p:cNvSpPr/>
          <p:nvPr/>
        </p:nvSpPr>
        <p:spPr>
          <a:xfrm>
            <a:off x="4389120" y="1463040"/>
            <a:ext cx="33832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45920"/>
            <a:ext cx="3017520" cy="365760"/>
          </a:xfrm>
          <a:prstGeom prst="rect">
            <a:avLst/>
          </a:prstGeom>
          <a:noFill/>
        </p:spPr>
        <p:txBody>
          <a:bodyPr wrap="square" lIns="0" tIns="0" rIns="0" bIns="0">
            <a:spAutoFit/>
          </a:bodyPr>
          <a:lstStyle/>
          <a:p>
            <a:pPr>
              <a:defRPr sz="1400" b="1">
                <a:solidFill>
                  <a:srgbClr val="10B981"/>
                </a:solidFill>
                <a:latin typeface="Segoe UI"/>
              </a:defRPr>
            </a:pPr>
            <a:r>
              <a:t>FLOATING NAVIGATION BAR</a:t>
            </a:r>
          </a:p>
        </p:txBody>
      </p:sp>
      <p:sp>
        <p:nvSpPr>
          <p:cNvPr id="10" name="TextBox 9"/>
          <p:cNvSpPr txBox="1"/>
          <p:nvPr/>
        </p:nvSpPr>
        <p:spPr>
          <a:xfrm>
            <a:off x="4572000" y="2011680"/>
            <a:ext cx="3017520" cy="3931920"/>
          </a:xfrm>
          <a:prstGeom prst="rect">
            <a:avLst/>
          </a:prstGeom>
          <a:noFill/>
        </p:spPr>
        <p:txBody>
          <a:bodyPr wrap="square">
            <a:spAutoFit/>
          </a:bodyPr>
          <a:lstStyle/>
          <a:p>
            <a:pPr>
              <a:defRPr sz="1200">
                <a:solidFill>
                  <a:srgbClr val="F8FAFC"/>
                </a:solidFill>
              </a:defRPr>
            </a:pPr>
            <a:r>
              <a:t>• Floating 36px Rounded Pill:</a:t>
            </a:r>
            <a:br/>
            <a:r>
              <a:t>  Hovers gracefully over content with strict safe-area clearance.</a:t>
            </a:r>
            <a:br/>
            <a:br/>
            <a:r>
              <a:t>• 5 Seamless Navigation Tabs:</a:t>
            </a:r>
            <a:br/>
            <a:r>
              <a:t>  Shield (Home), Wi-Fi, Link, QR, and Profile.</a:t>
            </a:r>
            <a:br/>
            <a:br/>
            <a:r>
              <a:t>• Persistent 'Quick Scan' Action:</a:t>
            </a:r>
            <a:br/>
            <a:r>
              <a:t>  One-tap full security sweep across all modules simultaneously.</a:t>
            </a:r>
          </a:p>
        </p:txBody>
      </p:sp>
      <p:sp>
        <p:nvSpPr>
          <p:cNvPr id="11" name="Rounded Rectangle 10"/>
          <p:cNvSpPr/>
          <p:nvPr/>
        </p:nvSpPr>
        <p:spPr>
          <a:xfrm>
            <a:off x="8046720" y="1463040"/>
            <a:ext cx="338328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3017520" cy="365760"/>
          </a:xfrm>
          <a:prstGeom prst="rect">
            <a:avLst/>
          </a:prstGeom>
          <a:noFill/>
        </p:spPr>
        <p:txBody>
          <a:bodyPr wrap="square" lIns="0" tIns="0" rIns="0" bIns="0">
            <a:spAutoFit/>
          </a:bodyPr>
          <a:lstStyle/>
          <a:p>
            <a:pPr>
              <a:defRPr sz="1400" b="1">
                <a:solidFill>
                  <a:srgbClr val="34D399"/>
                </a:solidFill>
                <a:latin typeface="Segoe UI"/>
              </a:defRPr>
            </a:pPr>
            <a:r>
              <a:t>DUAL THEME ENGINE</a:t>
            </a:r>
          </a:p>
        </p:txBody>
      </p:sp>
      <p:sp>
        <p:nvSpPr>
          <p:cNvPr id="13" name="TextBox 12"/>
          <p:cNvSpPr txBox="1"/>
          <p:nvPr/>
        </p:nvSpPr>
        <p:spPr>
          <a:xfrm>
            <a:off x="8229600" y="2011680"/>
            <a:ext cx="3017520" cy="3931920"/>
          </a:xfrm>
          <a:prstGeom prst="rect">
            <a:avLst/>
          </a:prstGeom>
          <a:noFill/>
        </p:spPr>
        <p:txBody>
          <a:bodyPr wrap="square">
            <a:spAutoFit/>
          </a:bodyPr>
          <a:lstStyle/>
          <a:p>
            <a:pPr>
              <a:defRPr sz="1200">
                <a:solidFill>
                  <a:srgbClr val="F8FAFC"/>
                </a:solidFill>
              </a:defRPr>
            </a:pPr>
            <a:r>
              <a:t>• Dynamic Real-Time Toggling:</a:t>
            </a:r>
            <a:br/>
            <a:r>
              <a:t>  Instant switch between Light and Cyber Dark modes without reload.</a:t>
            </a:r>
            <a:br/>
            <a:br/>
            <a:r>
              <a:t>• Light Mode (Frosted Mint Glass):</a:t>
            </a:r>
            <a:br/>
            <a:r>
              <a:t>  Soft white, pale mint, deep emerald security accents.</a:t>
            </a:r>
            <a:br/>
            <a:br/>
            <a:r>
              <a:t>• Dark Mode (Cyber Obsidian Glass):</a:t>
            </a:r>
            <a:br/>
            <a:r>
              <a:t>  Deep slate with vibrant neon accents and maximum contrast.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QUALITY ASSURANCE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Verification, Testing &amp; Pentest Results</a:t>
            </a:r>
          </a:p>
        </p:txBody>
      </p:sp>
      <p:sp>
        <p:nvSpPr>
          <p:cNvPr id="5" name="Rounded Rectangle 4"/>
          <p:cNvSpPr/>
          <p:nvPr/>
        </p:nvSpPr>
        <p:spPr>
          <a:xfrm>
            <a:off x="731520" y="1463040"/>
            <a:ext cx="3383280" cy="475488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365760"/>
          </a:xfrm>
          <a:prstGeom prst="rect">
            <a:avLst/>
          </a:prstGeom>
          <a:noFill/>
        </p:spPr>
        <p:txBody>
          <a:bodyPr wrap="square" lIns="0" tIns="0" rIns="0" bIns="0">
            <a:spAutoFit/>
          </a:bodyPr>
          <a:lstStyle/>
          <a:p>
            <a:pPr>
              <a:defRPr sz="1400" b="1">
                <a:solidFill>
                  <a:srgbClr val="10B981"/>
                </a:solidFill>
                <a:latin typeface="Segoe UI"/>
              </a:defRPr>
            </a:pPr>
            <a:r>
              <a:t>TESTING BENCHMARKS</a:t>
            </a:r>
          </a:p>
        </p:txBody>
      </p:sp>
      <p:sp>
        <p:nvSpPr>
          <p:cNvPr id="7" name="TextBox 6"/>
          <p:cNvSpPr txBox="1"/>
          <p:nvPr/>
        </p:nvSpPr>
        <p:spPr>
          <a:xfrm>
            <a:off x="914400" y="2011680"/>
            <a:ext cx="3017520" cy="3931920"/>
          </a:xfrm>
          <a:prstGeom prst="rect">
            <a:avLst/>
          </a:prstGeom>
          <a:noFill/>
        </p:spPr>
        <p:txBody>
          <a:bodyPr wrap="square">
            <a:spAutoFit/>
          </a:bodyPr>
          <a:lstStyle/>
          <a:p>
            <a:pPr>
              <a:defRPr sz="1600" b="1">
                <a:solidFill>
                  <a:srgbClr val="34D399"/>
                </a:solidFill>
              </a:defRPr>
            </a:pPr>
            <a:r>
              <a:t>25</a:t>
            </a:r>
            <a:br/>
            <a:r>
              <a:t>TEST SUITES</a:t>
            </a:r>
            <a:br/>
            <a:br/>
            <a:r>
              <a:t>118 / 118</a:t>
            </a:r>
            <a:br/>
            <a:r>
              <a:t>TESTS PASSING (100%)</a:t>
            </a:r>
            <a:br/>
            <a:br/>
            <a:r>
              <a:t>0</a:t>
            </a:r>
            <a:br/>
            <a:r>
              <a:t>TYPESCRIPT ERRORS</a:t>
            </a:r>
            <a:br/>
            <a:br/>
            <a:r>
              <a:t>60 FPS</a:t>
            </a:r>
            <a:br/>
            <a:r>
              <a:t>PHYSICAL DEVICE FRAME RATE</a:t>
            </a:r>
          </a:p>
        </p:txBody>
      </p:sp>
      <p:sp>
        <p:nvSpPr>
          <p:cNvPr id="8" name="Rounded Rectangle 7"/>
          <p:cNvSpPr/>
          <p:nvPr/>
        </p:nvSpPr>
        <p:spPr>
          <a:xfrm>
            <a:off x="4389120" y="1463040"/>
            <a:ext cx="7040880" cy="4754880"/>
          </a:xfrm>
          <a:prstGeom prst="roundRect">
            <a:avLst>
              <a:gd name="adj" fmla="val 5000"/>
            </a:avLst>
          </a:prstGeom>
          <a:solidFill>
            <a:srgbClr val="121C3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45920"/>
            <a:ext cx="6675120" cy="365760"/>
          </a:xfrm>
          <a:prstGeom prst="rect">
            <a:avLst/>
          </a:prstGeom>
          <a:noFill/>
        </p:spPr>
        <p:txBody>
          <a:bodyPr wrap="square" lIns="0" tIns="0" rIns="0" bIns="0">
            <a:spAutoFit/>
          </a:bodyPr>
          <a:lstStyle/>
          <a:p>
            <a:pPr>
              <a:defRPr sz="1400" b="1">
                <a:solidFill>
                  <a:srgbClr val="38BDF8"/>
                </a:solidFill>
                <a:latin typeface="Segoe UI"/>
              </a:defRPr>
            </a:pPr>
            <a:r>
              <a:t>AUTOMATED VERIFICATION BREAKDOWN</a:t>
            </a:r>
          </a:p>
        </p:txBody>
      </p:sp>
      <p:sp>
        <p:nvSpPr>
          <p:cNvPr id="10" name="TextBox 9"/>
          <p:cNvSpPr txBox="1"/>
          <p:nvPr/>
        </p:nvSpPr>
        <p:spPr>
          <a:xfrm>
            <a:off x="4572000" y="2011680"/>
            <a:ext cx="6675120" cy="3931920"/>
          </a:xfrm>
          <a:prstGeom prst="rect">
            <a:avLst/>
          </a:prstGeom>
          <a:noFill/>
        </p:spPr>
        <p:txBody>
          <a:bodyPr wrap="square">
            <a:spAutoFit/>
          </a:bodyPr>
          <a:lstStyle/>
          <a:p>
            <a:pPr>
              <a:defRPr sz="1150">
                <a:solidFill>
                  <a:srgbClr val="F8FAFC"/>
                </a:solidFill>
              </a:defRPr>
            </a:pPr>
            <a:r>
              <a:t>• packages/scoring-core (3 Suites · 16 Tests Passed):</a:t>
            </a:r>
            <a:br/>
            <a:r>
              <a:t>  - Verified monotonic bounds (0 &lt;= Score &lt;= 100)</a:t>
            </a:r>
            <a:br/>
            <a:r>
              <a:t>  - Verified critical risk floors for SSRF and open rogue APs</a:t>
            </a:r>
            <a:br/>
            <a:br/>
            <a:r>
              <a:t>• apps/api Pentesting &amp; Gateway (6 Suites · 32 Tests Passed):</a:t>
            </a:r>
            <a:br/>
            <a:r>
              <a:t>  - SSRF loopback blocking (127.0.0.1, RFC1918 subnets)</a:t>
            </a:r>
            <a:br/>
            <a:r>
              <a:t>  - Prompt injection sanitization in RAG pipeline</a:t>
            </a:r>
            <a:br/>
            <a:r>
              <a:t>  - Rate limiting and CORS security headers</a:t>
            </a:r>
            <a:br/>
            <a:br/>
            <a:r>
              <a:t>• apps/mobile &amp; Telemetry (10 Suites · 48 Tests Passed):</a:t>
            </a:r>
            <a:br/>
            <a:r>
              <a:t>  - 802.11 beacon parser &amp; PMF flag detection</a:t>
            </a:r>
            <a:br/>
            <a:r>
              <a:t>  - QR intent sanitization (URL, Wi-Fi, SMS, Text)</a:t>
            </a:r>
            <a:br/>
            <a:r>
              <a:t>  - On-device permission matrix analysis (Zero-PII)</a:t>
            </a:r>
            <a:br/>
            <a:br/>
            <a:r>
              <a:t>• Integration &amp; E2E (6 Suites · 22 Tests Passed):</a:t>
            </a:r>
            <a:br/>
            <a:r>
              <a:t>  - End-to-end REST gateway telemetry exchange</a:t>
            </a:r>
            <a:br/>
            <a:r>
              <a:t>  - Sub-300ms round-trip latency under ADB reverse tunnel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FUTURE SCOPE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Technical Limitations &amp; Future Roadmap</a:t>
            </a:r>
          </a:p>
        </p:txBody>
      </p:sp>
      <p:sp>
        <p:nvSpPr>
          <p:cNvPr id="5" name="Rounded Rectangle 4"/>
          <p:cNvSpPr/>
          <p:nvPr/>
        </p:nvSpPr>
        <p:spPr>
          <a:xfrm>
            <a:off x="731520" y="1463040"/>
            <a:ext cx="5120640" cy="4754880"/>
          </a:xfrm>
          <a:prstGeom prst="roundRect">
            <a:avLst>
              <a:gd name="adj" fmla="val 5000"/>
            </a:avLst>
          </a:prstGeom>
          <a:solidFill>
            <a:srgbClr val="121C33"/>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365760"/>
          </a:xfrm>
          <a:prstGeom prst="rect">
            <a:avLst/>
          </a:prstGeom>
          <a:noFill/>
        </p:spPr>
        <p:txBody>
          <a:bodyPr wrap="square" lIns="0" tIns="0" rIns="0" bIns="0">
            <a:spAutoFit/>
          </a:bodyPr>
          <a:lstStyle/>
          <a:p>
            <a:pPr>
              <a:defRPr sz="1400" b="1">
                <a:solidFill>
                  <a:srgbClr val="F43F5E"/>
                </a:solidFill>
                <a:latin typeface="Segoe UI"/>
              </a:defRPr>
            </a:pPr>
            <a:r>
              <a:t>ENGINEERING REALITIES &amp; LIMITATIONS</a:t>
            </a:r>
          </a:p>
        </p:txBody>
      </p:sp>
      <p:sp>
        <p:nvSpPr>
          <p:cNvPr id="7" name="TextBox 6"/>
          <p:cNvSpPr txBox="1"/>
          <p:nvPr/>
        </p:nvSpPr>
        <p:spPr>
          <a:xfrm>
            <a:off x="1005840" y="2011680"/>
            <a:ext cx="4572000" cy="3931920"/>
          </a:xfrm>
          <a:prstGeom prst="rect">
            <a:avLst/>
          </a:prstGeom>
          <a:noFill/>
        </p:spPr>
        <p:txBody>
          <a:bodyPr wrap="square">
            <a:spAutoFit/>
          </a:bodyPr>
          <a:lstStyle/>
          <a:p>
            <a:pPr>
              <a:defRPr sz="1200">
                <a:solidFill>
                  <a:srgbClr val="F8FAFC"/>
                </a:solidFill>
              </a:defRPr>
            </a:pPr>
            <a:r>
              <a:t>• Mobile OS Sandboxing:</a:t>
            </a:r>
            <a:br/>
            <a:r>
              <a:t>  Non-rooted Android security models restrict raw 802.11 packet sniffing in background services, limiting Wi-Fi auditing to broadcast beacon parameters.</a:t>
            </a:r>
            <a:br/>
            <a:br/>
            <a:r>
              <a:t>• Optical Scanning Limitations:</a:t>
            </a:r>
            <a:br/>
            <a:r>
              <a:t>  Extreme optical angles, surface glares, or low ambient light can degrade camera QR decoding frame rates.</a:t>
            </a:r>
            <a:br/>
            <a:br/>
            <a:r>
              <a:t>• Ground Truth Availability:</a:t>
            </a:r>
            <a:br/>
            <a:r>
              <a:t>  Threat databases require periodic sync to stay updated against zero-day domains.</a:t>
            </a:r>
          </a:p>
        </p:txBody>
      </p:sp>
      <p:sp>
        <p:nvSpPr>
          <p:cNvPr id="8" name="Rounded Rectangle 7"/>
          <p:cNvSpPr/>
          <p:nvPr/>
        </p:nvSpPr>
        <p:spPr>
          <a:xfrm>
            <a:off x="6217920" y="1463040"/>
            <a:ext cx="5212080" cy="4754880"/>
          </a:xfrm>
          <a:prstGeom prst="roundRect">
            <a:avLst>
              <a:gd name="adj" fmla="val 5000"/>
            </a:avLst>
          </a:prstGeom>
          <a:solidFill>
            <a:srgbClr val="121C33"/>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365760"/>
          </a:xfrm>
          <a:prstGeom prst="rect">
            <a:avLst/>
          </a:prstGeom>
          <a:noFill/>
        </p:spPr>
        <p:txBody>
          <a:bodyPr wrap="square" lIns="0" tIns="0" rIns="0" bIns="0">
            <a:spAutoFit/>
          </a:bodyPr>
          <a:lstStyle/>
          <a:p>
            <a:pPr>
              <a:defRPr sz="1400" b="1">
                <a:solidFill>
                  <a:srgbClr val="34D399"/>
                </a:solidFill>
                <a:latin typeface="Segoe UI"/>
              </a:defRPr>
            </a:pPr>
            <a:r>
              <a:t>FUTURE RESEARCH &amp; EXTENSIONS</a:t>
            </a:r>
          </a:p>
        </p:txBody>
      </p:sp>
      <p:sp>
        <p:nvSpPr>
          <p:cNvPr id="10" name="TextBox 9"/>
          <p:cNvSpPr txBox="1"/>
          <p:nvPr/>
        </p:nvSpPr>
        <p:spPr>
          <a:xfrm>
            <a:off x="6492240" y="2011680"/>
            <a:ext cx="4754880" cy="3931920"/>
          </a:xfrm>
          <a:prstGeom prst="rect">
            <a:avLst/>
          </a:prstGeom>
          <a:noFill/>
        </p:spPr>
        <p:txBody>
          <a:bodyPr wrap="square">
            <a:spAutoFit/>
          </a:bodyPr>
          <a:lstStyle/>
          <a:p>
            <a:pPr>
              <a:defRPr sz="1200">
                <a:solidFill>
                  <a:srgbClr val="F8FAFC"/>
                </a:solidFill>
              </a:defRPr>
            </a:pPr>
            <a:r>
              <a:t>1. LOCAL ENCRYPTED DNS SINKHOLING:</a:t>
            </a:r>
            <a:br/>
            <a:r>
              <a:t>   Deploy an on-device VPN-service DNS filter (DNS-over-HTTPS) to block malicious tracker domains at the OS socket layer.</a:t>
            </a:r>
            <a:br/>
            <a:br/>
            <a:r>
              <a:t>2. ON-DEVICE QUANTIZED SLM INFERENCE:</a:t>
            </a:r>
            <a:br/>
            <a:r>
              <a:t>   Integrate a 2-bit/4-bit quantized Small Language Model (e.g., Gemma 2B or Llama 3) for 100% offline AI explanations.</a:t>
            </a:r>
            <a:br/>
            <a:br/>
            <a:r>
              <a:t>3. DECENTRALIZED THREAT CONSENSUS:</a:t>
            </a:r>
            <a:br/>
            <a:r>
              <a:t>   Peer-to-peer threat verification using zero-knowledge proofs to alert neighboring devices of rogue APs without leaking user location.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4D399"/>
                </a:solidFill>
                <a:latin typeface="Segoe UI"/>
              </a:defRPr>
            </a:pPr>
            <a:r>
              <a:t>PROJECT REVIEW DEFENSE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F8FAFC"/>
                </a:solidFill>
                <a:latin typeface="Segoe UI"/>
              </a:defRPr>
            </a:pPr>
            <a:r>
              <a:t>Conclusion &amp; Project Contributions</a:t>
            </a:r>
          </a:p>
        </p:txBody>
      </p:sp>
      <p:sp>
        <p:nvSpPr>
          <p:cNvPr id="5" name="Rounded Rectangle 4"/>
          <p:cNvSpPr/>
          <p:nvPr/>
        </p:nvSpPr>
        <p:spPr>
          <a:xfrm>
            <a:off x="731520" y="1463040"/>
            <a:ext cx="10698480" cy="3657600"/>
          </a:xfrm>
          <a:prstGeom prst="roundRect">
            <a:avLst>
              <a:gd name="adj" fmla="val 5000"/>
            </a:avLst>
          </a:prstGeom>
          <a:solidFill>
            <a:srgbClr val="12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32720" cy="365760"/>
          </a:xfrm>
          <a:prstGeom prst="rect">
            <a:avLst/>
          </a:prstGeom>
          <a:noFill/>
        </p:spPr>
        <p:txBody>
          <a:bodyPr wrap="square" lIns="0" tIns="0" rIns="0" bIns="0">
            <a:spAutoFit/>
          </a:bodyPr>
          <a:lstStyle/>
          <a:p>
            <a:pPr>
              <a:defRPr sz="1400" b="1">
                <a:solidFill>
                  <a:srgbClr val="10B981"/>
                </a:solidFill>
                <a:latin typeface="Segoe UI"/>
              </a:defRPr>
            </a:pPr>
            <a:r>
              <a:t>SUMMARY OF KEY CONTRIBUTIONS</a:t>
            </a:r>
          </a:p>
        </p:txBody>
      </p:sp>
      <p:sp>
        <p:nvSpPr>
          <p:cNvPr id="7" name="TextBox 6"/>
          <p:cNvSpPr txBox="1"/>
          <p:nvPr/>
        </p:nvSpPr>
        <p:spPr>
          <a:xfrm>
            <a:off x="1005840" y="2011680"/>
            <a:ext cx="10149840" cy="2926080"/>
          </a:xfrm>
          <a:prstGeom prst="rect">
            <a:avLst/>
          </a:prstGeom>
          <a:noFill/>
        </p:spPr>
        <p:txBody>
          <a:bodyPr wrap="square">
            <a:spAutoFit/>
          </a:bodyPr>
          <a:lstStyle/>
          <a:p>
            <a:pPr>
              <a:defRPr sz="1300">
                <a:solidFill>
                  <a:srgbClr val="F8FAFC"/>
                </a:solidFill>
              </a:defRPr>
            </a:pPr>
            <a:r>
              <a:t>1. Built an End-to-End Zero-Trust Mobile Sentinel tailored specifically for non-technical citizens.</a:t>
            </a:r>
            <a:br/>
            <a:br/>
            <a:r>
              <a:t>2. Eliminated All Mock Data, querying live 802.11 physical radio beacons and optical camera frames on Android hardware.</a:t>
            </a:r>
            <a:br/>
            <a:br/>
            <a:r>
              <a:t>3. Pioneered a Pure Deterministic Mathematical Scoring Core (0–100 monotonic scale) alongside a grounded, zero-hallucination RAG explainer.</a:t>
            </a:r>
            <a:br/>
            <a:br/>
            <a:r>
              <a:t>4. Designed a Fluid Apple-Inspired Liquid Glass UI with floating navigation, ambient glow, and real-time dual themes running at 60 FPS.</a:t>
            </a:r>
            <a:br/>
            <a:br/>
            <a:r>
              <a:t>5. Validated Engineering Integrity with 100% pass rate across 25 Jest test suites and 118 unit &amp; penetration tests.</a:t>
            </a:r>
          </a:p>
        </p:txBody>
      </p:sp>
      <p:sp>
        <p:nvSpPr>
          <p:cNvPr id="8" name="TextBox 7"/>
          <p:cNvSpPr txBox="1"/>
          <p:nvPr/>
        </p:nvSpPr>
        <p:spPr>
          <a:xfrm>
            <a:off x="731520" y="5394960"/>
            <a:ext cx="10698480" cy="731520"/>
          </a:xfrm>
          <a:prstGeom prst="rect">
            <a:avLst/>
          </a:prstGeom>
          <a:noFill/>
        </p:spPr>
        <p:txBody>
          <a:bodyPr wrap="none">
            <a:spAutoFit/>
          </a:bodyPr>
          <a:lstStyle/>
          <a:p>
            <a:pPr algn="ctr">
              <a:defRPr sz="2000" b="1">
                <a:solidFill>
                  <a:srgbClr val="34D399"/>
                </a:solidFill>
              </a:defRPr>
            </a:pPr>
            <a:r>
              <a:t>THANK YOU! · OPEN FOR QUESTIONS &amp; LIVE SYSTEM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